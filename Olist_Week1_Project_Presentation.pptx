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D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6760" y="1005840"/>
            <a:ext cx="3017520" cy="621792"/>
          </a:xfrm>
          <a:prstGeom prst="roundRect">
            <a:avLst>
              <a:gd name="adj" fmla="val 12000"/>
            </a:avLst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66760" y="1874519"/>
            <a:ext cx="2331720" cy="621792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66760" y="2743200"/>
            <a:ext cx="3337560" cy="621792"/>
          </a:xfrm>
          <a:prstGeom prst="roundRect">
            <a:avLst>
              <a:gd name="adj" fmla="val 1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66760" y="3611880"/>
            <a:ext cx="2651760" cy="621792"/>
          </a:xfrm>
          <a:prstGeom prst="roundRect">
            <a:avLst>
              <a:gd name="adj" fmla="val 12000"/>
            </a:avLst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16A6A1"/>
                </a:solidFill>
                <a:latin typeface="Aptos"/>
              </a:rPr>
              <a:t>DATA ANALYTICS • WEEK 1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85800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OLIST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667512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E-commerce
Performance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767328"/>
            <a:ext cx="868680" cy="54864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4069080"/>
            <a:ext cx="612648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>
                <a:solidFill>
                  <a:srgbClr val="D3DEEC"/>
                </a:solidFill>
                <a:latin typeface="Aptos"/>
              </a:rPr>
              <a:t>From order-level data to actionable business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97880"/>
            <a:ext cx="621792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0" dirty="0">
                <a:solidFill>
                  <a:srgbClr val="B7C6D9"/>
                </a:solidFill>
                <a:latin typeface="Aptos"/>
              </a:rPr>
              <a:t>Prepared by: </a:t>
            </a:r>
            <a:r>
              <a:rPr lang="en-US" sz="1100" dirty="0">
                <a:solidFill>
                  <a:srgbClr val="B7C6D9"/>
                </a:solidFill>
                <a:latin typeface="Aptos"/>
              </a:rPr>
              <a:t>Mahi Choudhary</a:t>
            </a:r>
            <a:r>
              <a:rPr sz="1100" b="0" dirty="0">
                <a:solidFill>
                  <a:srgbClr val="B7C6D9"/>
                </a:solidFill>
                <a:latin typeface="Aptos"/>
              </a:rPr>
              <a:t> •  [</a:t>
            </a:r>
            <a:r>
              <a:rPr lang="en-US" sz="1100" dirty="0" err="1">
                <a:solidFill>
                  <a:srgbClr val="B7C6D9"/>
                </a:solidFill>
                <a:latin typeface="Aptos"/>
              </a:rPr>
              <a:t>WeIntern</a:t>
            </a:r>
            <a:r>
              <a:rPr lang="en-US" sz="1100" dirty="0">
                <a:solidFill>
                  <a:srgbClr val="B7C6D9"/>
                </a:solidFill>
                <a:latin typeface="Aptos"/>
              </a:rPr>
              <a:t> Pvt. Ltd</a:t>
            </a:r>
            <a:r>
              <a:rPr lang="en-IN" sz="1100" dirty="0"/>
              <a:t>.</a:t>
            </a:r>
            <a:r>
              <a:rPr lang="en-US" sz="1100" dirty="0">
                <a:solidFill>
                  <a:srgbClr val="B7C6D9"/>
                </a:solidFill>
                <a:latin typeface="Aptos"/>
              </a:rPr>
              <a:t> Week 1 Data Science Minor Project</a:t>
            </a:r>
            <a:r>
              <a:rPr sz="1100" b="0" dirty="0">
                <a:solidFill>
                  <a:srgbClr val="B7C6D9"/>
                </a:solidFill>
                <a:latin typeface="Aptos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709160"/>
            <a:ext cx="32918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REVENUE • CUSTOMERS
DELIVERY • GEOGRAPHY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6126480"/>
            <a:ext cx="32004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B7C6D9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6A6A1"/>
                </a:solidFill>
                <a:latin typeface="Aptos"/>
              </a:rPr>
              <a:t>WEEK 1 •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33E"/>
                </a:solidFill>
                <a:latin typeface="Aptos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13232" cy="50292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67748B"/>
                </a:solidFill>
                <a:latin typeface="Aptos"/>
              </a:rPr>
              <a:t>OLIST E-COMMERCE PERFORMANCE •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1">
                <a:solidFill>
                  <a:srgbClr val="13233E"/>
                </a:solidFill>
                <a:latin typeface="Aptos"/>
              </a:rPr>
              <a:t>The 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75488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>
                <a:solidFill>
                  <a:srgbClr val="273448"/>
                </a:solidFill>
                <a:latin typeface="Aptos"/>
              </a:rPr>
              <a:t>What do order, product, customer and delivery records reveal about Olist’s sales performance—and where could the business improve?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7748B"/>
                </a:solidFill>
                <a:latin typeface="Aptos"/>
              </a:rPr>
              <a:t>Scope: exploratory analysis of historical marketplace data; not a causal study.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600200"/>
            <a:ext cx="55778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49377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AT A GLANCE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2404872"/>
            <a:ext cx="100584" cy="100584"/>
          </a:xfrm>
          <a:prstGeom prst="ellipse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2331720"/>
            <a:ext cx="464515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273448"/>
                </a:solidFill>
                <a:latin typeface="Aptos"/>
              </a:rPr>
              <a:t>R$13.22M delivered-order product revenue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3090672"/>
            <a:ext cx="100584" cy="100584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3017520"/>
            <a:ext cx="464515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273448"/>
                </a:solidFill>
                <a:latin typeface="Aptos"/>
              </a:rPr>
              <a:t>96.5K delivered orders in the observed dataset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3776472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703320"/>
            <a:ext cx="464515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273448"/>
                </a:solidFill>
                <a:latin typeface="Aptos"/>
              </a:rPr>
              <a:t>8.11% late-delivery rate among orders with valid dates</a:t>
            </a:r>
          </a:p>
        </p:txBody>
      </p:sp>
      <p:sp>
        <p:nvSpPr>
          <p:cNvPr id="18" name="Oval 17"/>
          <p:cNvSpPr/>
          <p:nvPr/>
        </p:nvSpPr>
        <p:spPr>
          <a:xfrm>
            <a:off x="6172200" y="4462272"/>
            <a:ext cx="100584" cy="100584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4389120"/>
            <a:ext cx="464515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273448"/>
                </a:solidFill>
                <a:latin typeface="Aptos"/>
              </a:rPr>
              <a:t>Repeat buyers are a small share of observed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6A6A1"/>
                </a:solidFill>
                <a:latin typeface="Aptos"/>
              </a:rPr>
              <a:t>WEEK 1 •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33E"/>
                </a:solidFill>
                <a:latin typeface="Aptos"/>
              </a:rPr>
              <a:t>Dataset &amp; analytical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13232" cy="50292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67748B"/>
                </a:solidFill>
                <a:latin typeface="Aptos"/>
              </a:rPr>
              <a:t>OLIST E-COMMERCE PERFORMANCE •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13233E"/>
                </a:solidFill>
                <a:latin typeface="Aptos"/>
              </a:rPr>
              <a:t>A multi-table marketplace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5661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73448"/>
                </a:solidFill>
                <a:latin typeface="Aptos"/>
              </a:rPr>
              <a:t>Olist records connect orders with customers, items, products, sellers, payments and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20574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2057400" cy="64008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3233E"/>
                </a:solidFill>
                <a:latin typeface="Aptos"/>
              </a:rP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1783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Status • timestamps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645920"/>
            <a:ext cx="20574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20840" y="1645920"/>
            <a:ext cx="2057400" cy="640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3233E"/>
                </a:solidFill>
                <a:latin typeface="Aptos"/>
              </a:rPr>
              <a:t>ORDER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48840"/>
            <a:ext cx="1783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Price • freight • seller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645920"/>
            <a:ext cx="20574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59" y="1645920"/>
            <a:ext cx="2057400" cy="6400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19" y="1828800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3233E"/>
                </a:solidFill>
                <a:latin typeface="Aptos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148840"/>
            <a:ext cx="1783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Customer • 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71800"/>
            <a:ext cx="20574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2971800"/>
            <a:ext cx="2057400" cy="64008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154680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3233E"/>
                </a:solidFill>
                <a:latin typeface="Aptos"/>
              </a:rP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474720"/>
            <a:ext cx="1783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Category • dimensions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971800"/>
            <a:ext cx="20574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20840" y="2971800"/>
            <a:ext cx="2057400" cy="64008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3154680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3233E"/>
                </a:solidFill>
                <a:latin typeface="Aptos"/>
              </a:rPr>
              <a:t>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474720"/>
            <a:ext cx="1783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Method • installments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59" y="2971800"/>
            <a:ext cx="20574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52559" y="2971800"/>
            <a:ext cx="2057400" cy="640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9719" y="3154680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3233E"/>
                </a:solidFill>
                <a:latin typeface="Aptos"/>
              </a:rPr>
              <a:t>REVIEWS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3474720"/>
            <a:ext cx="1783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Score • comment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526280"/>
            <a:ext cx="10698480" cy="868680"/>
          </a:xfrm>
          <a:prstGeom prst="roundRect">
            <a:avLst>
              <a:gd name="adj" fmla="val 12000"/>
            </a:avLst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70916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PRIMARY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663440"/>
            <a:ext cx="8138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Revenue • purchase behavior • delivery reliability • state-level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04241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Product revenue uses item price and excludes freight; it should not be interpreted as profit.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6A6A1"/>
                </a:solidFill>
                <a:latin typeface="Aptos"/>
              </a:rPr>
              <a:t>WEEK 1 •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33E"/>
                </a:solidFill>
                <a:latin typeface="Aptos"/>
              </a:rPr>
              <a:t>Data preparation &amp; 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13232" cy="50292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67748B"/>
                </a:solidFill>
                <a:latin typeface="Aptos"/>
              </a:rPr>
              <a:t>OLIST E-COMMERCE PERFORMANCE •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487168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965960"/>
            <a:ext cx="438912" cy="438912"/>
          </a:xfrm>
          <a:prstGeom prst="ellipse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38912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51760"/>
            <a:ext cx="21031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13233E"/>
                </a:solidFill>
                <a:latin typeface="Aptos"/>
              </a:rPr>
              <a:t>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90672"/>
            <a:ext cx="20574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73448"/>
                </a:solidFill>
                <a:latin typeface="Aptos"/>
              </a:rPr>
              <a:t>Schemas, types, row counts and key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737360"/>
            <a:ext cx="2487168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21608" y="196596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2075688"/>
            <a:ext cx="438912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651760"/>
            <a:ext cx="21031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13233E"/>
                </a:solidFill>
                <a:latin typeface="Aptos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090672"/>
            <a:ext cx="20574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73448"/>
                </a:solidFill>
                <a:latin typeface="Aptos"/>
              </a:rPr>
              <a:t>Remove exact geolocation duplicates where appropriate.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2487168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6248" y="1965960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2075688"/>
            <a:ext cx="438912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651760"/>
            <a:ext cx="21031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13233E"/>
                </a:solidFill>
                <a:latin typeface="Aptos"/>
              </a:rPr>
              <a:t>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090672"/>
            <a:ext cx="20574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73448"/>
                </a:solidFill>
                <a:latin typeface="Aptos"/>
              </a:rPr>
              <a:t>Relate orders, items, customers and products.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737360"/>
            <a:ext cx="2487168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90888" y="1965960"/>
            <a:ext cx="438912" cy="438912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90888" y="2075688"/>
            <a:ext cx="438912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651760"/>
            <a:ext cx="21031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13233E"/>
                </a:solidFill>
                <a:latin typeface="Aptos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3090672"/>
            <a:ext cx="205740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73448"/>
                </a:solidFill>
                <a:latin typeface="Aptos"/>
              </a:rPr>
              <a:t>Check status, missing timestamps and metric definitions.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251960"/>
            <a:ext cx="10744200" cy="10515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12801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E76F51"/>
                </a:solidFill>
                <a:latin typeface="Aptos"/>
              </a:rPr>
              <a:t>IMPORTANT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416552"/>
            <a:ext cx="8686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Aptos"/>
              </a:rPr>
              <a:t>Delivery metrics should include only delivered orders with valid actual and estimated delivery dates.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23560"/>
            <a:ext cx="104241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Geolocation duplicates are not transaction duplicates; clean each table according to its purpose.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6A6A1"/>
                </a:solidFill>
                <a:latin typeface="Aptos"/>
              </a:rPr>
              <a:t>WEEK 1 •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33E"/>
                </a:solidFill>
                <a:latin typeface="Aptos"/>
              </a:rPr>
              <a:t>Performance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13232" cy="50292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67748B"/>
                </a:solidFill>
                <a:latin typeface="Aptos"/>
              </a:rPr>
              <a:t>OLIST E-COMMERCE PERFORMANCE •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64008" cy="1508760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PRODUCT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22860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300" b="1">
                <a:solidFill>
                  <a:srgbClr val="13233E"/>
                </a:solidFill>
                <a:latin typeface="Aptos"/>
              </a:rPr>
              <a:t>R$13.22M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22860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Delivered orders; item price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4592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645920"/>
            <a:ext cx="64008" cy="1508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801368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DELIVERED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30552"/>
            <a:ext cx="22860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300" b="1">
                <a:solidFill>
                  <a:srgbClr val="13233E"/>
                </a:solidFill>
                <a:latin typeface="Aptos"/>
              </a:rPr>
              <a:t>96,478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51760"/>
            <a:ext cx="22860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Distinct delivered order 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4592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645920"/>
            <a:ext cx="64008" cy="15087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801368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AVERAGE ORDER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22860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300" b="1">
                <a:solidFill>
                  <a:srgbClr val="13233E"/>
                </a:solidFill>
                <a:latin typeface="Aptos"/>
              </a:rPr>
              <a:t>R$137.04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22860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Revenue ÷ delivered orders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645920"/>
            <a:ext cx="24231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60" y="1645920"/>
            <a:ext cx="64008" cy="150876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1801368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UNITS SOLD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130552"/>
            <a:ext cx="21031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300" b="1">
                <a:solidFill>
                  <a:srgbClr val="13233E"/>
                </a:solidFill>
                <a:latin typeface="Aptos"/>
              </a:rPr>
              <a:t>110,197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51760"/>
            <a:ext cx="21031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7748B"/>
                </a:solidFill>
                <a:latin typeface="Aptos"/>
              </a:rPr>
              <a:t>Order-item rows as unit proxy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657600"/>
            <a:ext cx="10789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3886200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HOW TO READ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297680"/>
            <a:ext cx="99669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>
                <a:solidFill>
                  <a:srgbClr val="273448"/>
                </a:solidFill>
                <a:latin typeface="Aptos"/>
              </a:rPr>
              <a:t>AOV is an average, not a median. Revenue excludes freight, costs and refunds unless separately modeled.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3212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Aptos"/>
              </a:rPr>
              <a:t>Working figures: reconcile all values with final Power BI measures before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6A6A1"/>
                </a:solidFill>
                <a:latin typeface="Aptos"/>
              </a:rPr>
              <a:t>WEEK 1 •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33E"/>
                </a:solidFill>
                <a:latin typeface="Aptos"/>
              </a:rPr>
              <a:t>Sales trends &amp; product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13232" cy="50292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67748B"/>
                </a:solidFill>
                <a:latin typeface="Aptos"/>
              </a:rPr>
              <a:t>OLIST E-COMMERCE PERFORMANCE •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48640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MONTHLY REVENUE • SELECTED PEAK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7802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Nov 2017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514600"/>
            <a:ext cx="237744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17520" y="2514600"/>
            <a:ext cx="2348352" cy="228600"/>
          </a:xfrm>
          <a:prstGeom prst="roundRect">
            <a:avLst>
              <a:gd name="adj" fmla="val 12000"/>
            </a:avLst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247802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R$988K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0098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May 2018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337560"/>
            <a:ext cx="237744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17520" y="3337560"/>
            <a:ext cx="2324054" cy="2286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330098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R$978K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2394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Apr 2018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4160520"/>
            <a:ext cx="237744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017520" y="4160520"/>
            <a:ext cx="2314518" cy="228600"/>
          </a:xfrm>
          <a:prstGeom prst="roundRect">
            <a:avLst>
              <a:gd name="adj" fmla="val 1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412394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R$974K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46634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67748B"/>
                </a:solidFill>
                <a:latin typeface="Aptos"/>
              </a:rPr>
              <a:t>Dataset edges may contain partial months.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554480"/>
            <a:ext cx="507492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1810512"/>
            <a:ext cx="44805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TOP CATEGORIES BY PRODUCT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47802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Health &amp; beauty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2514600"/>
            <a:ext cx="214884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32520" y="2514600"/>
            <a:ext cx="2038310" cy="228600"/>
          </a:xfrm>
          <a:prstGeom prst="roundRect">
            <a:avLst>
              <a:gd name="adj" fmla="val 12000"/>
            </a:avLst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0" y="247802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R$1.23M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30098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Watches &amp; gifts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3337560"/>
            <a:ext cx="214884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732520" y="3337560"/>
            <a:ext cx="1927636" cy="2286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0" y="330098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R$1.17M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12394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Bed/bath/table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4160520"/>
            <a:ext cx="214884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732520" y="4160520"/>
            <a:ext cx="1691690" cy="228600"/>
          </a:xfrm>
          <a:prstGeom prst="roundRect">
            <a:avLst>
              <a:gd name="adj" fmla="val 1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0" y="412394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R$1.02M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166360"/>
            <a:ext cx="42976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67748B"/>
                </a:solidFill>
                <a:latin typeface="Aptos"/>
              </a:rPr>
              <a:t>Readable translated category names.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6A6A1"/>
                </a:solidFill>
                <a:latin typeface="Aptos"/>
              </a:rPr>
              <a:t>WEEK 1 •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33E"/>
                </a:solidFill>
                <a:latin typeface="Aptos"/>
              </a:rPr>
              <a:t>Customer purchase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13232" cy="50292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67748B"/>
                </a:solidFill>
                <a:latin typeface="Aptos"/>
              </a:rPr>
              <a:t>OLIST E-COMMERCE PERFORMANCE •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45720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0233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OBSERVED CUSTOMER FREQUENCY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560320"/>
            <a:ext cx="3749039" cy="4572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840" y="2560320"/>
            <a:ext cx="3639312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45152" y="2560320"/>
            <a:ext cx="109728" cy="457200"/>
          </a:xfrm>
          <a:prstGeom prst="roundRect">
            <a:avLst>
              <a:gd name="adj" fmla="val 1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3474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33E"/>
                </a:solidFill>
                <a:latin typeface="Aptos"/>
              </a:rPr>
              <a:t>One-time • 90,557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3474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7748B"/>
                </a:solidFill>
                <a:latin typeface="Aptos"/>
              </a:rPr>
              <a:t>~97% of observed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3474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33E"/>
                </a:solidFill>
                <a:latin typeface="Aptos"/>
              </a:rPr>
              <a:t>Repeat • 2,801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3474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7748B"/>
                </a:solidFill>
                <a:latin typeface="Aptos"/>
              </a:rPr>
              <a:t>~3% of observed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645920"/>
            <a:ext cx="5852160" cy="4160520"/>
          </a:xfrm>
          <a:prstGeom prst="roundRect">
            <a:avLst>
              <a:gd name="adj" fmla="val 12000"/>
            </a:avLst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65960"/>
            <a:ext cx="49377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468880"/>
            <a:ext cx="484632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Retention may be a meaningful growth opportunity.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3593592"/>
            <a:ext cx="100584" cy="100584"/>
          </a:xfrm>
          <a:prstGeom prst="ellipse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3520440"/>
            <a:ext cx="464515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Aptos"/>
              </a:rPr>
              <a:t>Test post-purchase email and replenishment reminders.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4233672"/>
            <a:ext cx="100584" cy="100584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4160520"/>
            <a:ext cx="464515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Aptos"/>
              </a:rPr>
              <a:t>Use category-based cross-sell recommendations.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0" y="4873752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4800600"/>
            <a:ext cx="464515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Aptos"/>
              </a:rPr>
              <a:t>Measure repeat rate over a defined customer window.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5156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67748B"/>
                </a:solidFill>
                <a:latin typeface="Aptos"/>
              </a:rPr>
              <a:t>Repeat behavior is measured within the observed dataset period—not lifetime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6A6A1"/>
                </a:solidFill>
                <a:latin typeface="Aptos"/>
              </a:rPr>
              <a:t>WEEK 1 •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33E"/>
                </a:solidFill>
                <a:latin typeface="Aptos"/>
              </a:rPr>
              <a:t>Delivery reliability &amp; geographic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13232" cy="50292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67748B"/>
                </a:solidFill>
                <a:latin typeface="Aptos"/>
              </a:rPr>
              <a:t>OLIST E-COMMERCE PERFORMANCE •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0749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4805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DELIVERY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828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2D9169"/>
                </a:solidFill>
                <a:latin typeface="Aptos"/>
              </a:rPr>
              <a:t>91.89%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87168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273448"/>
                </a:solidFill>
                <a:latin typeface="Aptos"/>
              </a:rPr>
              <a:t>On time /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54680"/>
            <a:ext cx="18288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E76F51"/>
                </a:solidFill>
                <a:latin typeface="Aptos"/>
              </a:rPr>
              <a:t>8.11%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18688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273448"/>
                </a:solidFill>
                <a:latin typeface="Aptos"/>
              </a:rPr>
              <a:t>Late deliveries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886200"/>
            <a:ext cx="4114800" cy="384048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3886200"/>
            <a:ext cx="3776472" cy="384048"/>
          </a:xfrm>
          <a:prstGeom prst="roundRect">
            <a:avLst>
              <a:gd name="adj" fmla="val 12000"/>
            </a:avLst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36592" y="3886200"/>
            <a:ext cx="338328" cy="384048"/>
          </a:xfrm>
          <a:prstGeom prst="roundRect">
            <a:avLst>
              <a:gd name="adj" fmla="val 1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429768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73448"/>
                </a:solidFill>
                <a:latin typeface="Aptos"/>
              </a:rPr>
              <a:t>Average actual: 12.56 days
Average estimate: 23.74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45920"/>
            <a:ext cx="53035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901952"/>
            <a:ext cx="4572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TOP STATES BY PRODUCT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946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São Paulo (SP)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2606040"/>
            <a:ext cx="224028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58200" y="2606040"/>
            <a:ext cx="2183253" cy="228600"/>
          </a:xfrm>
          <a:prstGeom prst="roundRect">
            <a:avLst>
              <a:gd name="adj" fmla="val 12000"/>
            </a:avLst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19" y="256946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R$5.07M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9242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Rio de Janeiro (RJ)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3429000"/>
            <a:ext cx="224028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58200" y="3429000"/>
            <a:ext cx="758098" cy="2286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19" y="339242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R$1.76M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15384"/>
            <a:ext cx="20116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73448"/>
                </a:solidFill>
                <a:latin typeface="Aptos"/>
              </a:rPr>
              <a:t>Minas Gerais (MG)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4251960"/>
            <a:ext cx="2240280" cy="228600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58200" y="4251960"/>
            <a:ext cx="668845" cy="228600"/>
          </a:xfrm>
          <a:prstGeom prst="roundRect">
            <a:avLst>
              <a:gd name="adj" fmla="val 1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19" y="4215384"/>
            <a:ext cx="1143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67748B"/>
                </a:solidFill>
                <a:latin typeface="Aptos"/>
              </a:rPr>
              <a:t>R$1.55M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57800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67748B"/>
                </a:solidFill>
                <a:latin typeface="Aptos"/>
              </a:rPr>
              <a:t>Top 3 states contribute ~63% of revenue.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35040"/>
            <a:ext cx="104241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>
                <a:solidFill>
                  <a:srgbClr val="67748B"/>
                </a:solidFill>
                <a:latin typeface="Aptos"/>
              </a:rPr>
              <a:t>Delivery metrics use delivered orders with valid actual and estimated delivery timestamps.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16A6A1"/>
                </a:solidFill>
                <a:latin typeface="Aptos"/>
              </a:rPr>
              <a:t>WEEK 1 •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3233E"/>
                </a:solidFill>
                <a:latin typeface="Aptos"/>
              </a:rPr>
              <a:t>Power BI dashboard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13232" cy="50292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>
                <a:solidFill>
                  <a:srgbClr val="67748B"/>
                </a:solidFill>
                <a:latin typeface="Aptos"/>
              </a:rPr>
              <a:t>OLIST E-COMMERCE PERFORMANCE •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0789920" cy="4617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10789920" cy="457200"/>
          </a:xfrm>
          <a:prstGeom prst="roundRect">
            <a:avLst>
              <a:gd name="adj" fmla="val 12000"/>
            </a:avLst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54864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OLIST  |  E-COMMERCE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645920"/>
            <a:ext cx="27432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00" b="1">
                <a:solidFill>
                  <a:srgbClr val="D7E1ED"/>
                </a:solidFill>
                <a:latin typeface="Aptos"/>
              </a:rPr>
              <a:t>YEAR   STATE  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194560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286000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67748B"/>
                </a:solidFill>
                <a:latin typeface="Aptos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487168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33E"/>
                </a:solidFill>
                <a:latin typeface="Aptos"/>
              </a:rPr>
              <a:t>R$13.22M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194560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2286000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67748B"/>
                </a:solidFill>
                <a:latin typeface="Aptos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487168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33E"/>
                </a:solidFill>
                <a:latin typeface="Aptos"/>
              </a:rPr>
              <a:t>96.5K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194560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2286000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67748B"/>
                </a:solidFill>
                <a:latin typeface="Aptos"/>
              </a:rPr>
              <a:t>AOV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487168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33E"/>
                </a:solidFill>
                <a:latin typeface="Aptos"/>
              </a:rPr>
              <a:t>R$137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2194560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42248" y="2286000"/>
            <a:ext cx="20116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67748B"/>
                </a:solidFill>
                <a:latin typeface="Aptos"/>
              </a:rPr>
              <a:t>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2487168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3233E"/>
                </a:solidFill>
                <a:latin typeface="Aptos"/>
              </a:rPr>
              <a:t>110.2K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127248"/>
            <a:ext cx="4892040" cy="114300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227832"/>
            <a:ext cx="4114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16A6A1"/>
                </a:solidFill>
                <a:latin typeface="Aptos"/>
              </a:rPr>
              <a:t>MONTHLY REVENUE TREND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188720" y="3822191"/>
            <a:ext cx="640080" cy="155448"/>
          </a:xfrm>
          <a:prstGeom prst="line">
            <a:avLst/>
          </a:prstGeom>
          <a:ln w="31750">
            <a:solidFill>
              <a:srgbClr val="16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0" y="3822191"/>
            <a:ext cx="640080" cy="64009"/>
          </a:xfrm>
          <a:prstGeom prst="line">
            <a:avLst/>
          </a:prstGeom>
          <a:ln w="31750">
            <a:solidFill>
              <a:srgbClr val="16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468880" y="3611880"/>
            <a:ext cx="640080" cy="274320"/>
          </a:xfrm>
          <a:prstGeom prst="line">
            <a:avLst/>
          </a:prstGeom>
          <a:ln w="31750">
            <a:solidFill>
              <a:srgbClr val="16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08960" y="3611880"/>
            <a:ext cx="640079" cy="118872"/>
          </a:xfrm>
          <a:prstGeom prst="line">
            <a:avLst/>
          </a:prstGeom>
          <a:ln w="31750">
            <a:solidFill>
              <a:srgbClr val="16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749039" y="3520440"/>
            <a:ext cx="640081" cy="210312"/>
          </a:xfrm>
          <a:prstGeom prst="line">
            <a:avLst/>
          </a:prstGeom>
          <a:ln w="31750">
            <a:solidFill>
              <a:srgbClr val="16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389120" y="3520440"/>
            <a:ext cx="1005840" cy="118872"/>
          </a:xfrm>
          <a:prstGeom prst="line">
            <a:avLst/>
          </a:prstGeom>
          <a:ln w="31750">
            <a:solidFill>
              <a:srgbClr val="16A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35040" y="3127248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3227832"/>
            <a:ext cx="43891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16A6A1"/>
                </a:solidFill>
                <a:latin typeface="Aptos"/>
              </a:rPr>
              <a:t>TOP CATEGORIES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566160"/>
            <a:ext cx="3566160" cy="91440"/>
          </a:xfrm>
          <a:prstGeom prst="roundRect">
            <a:avLst>
              <a:gd name="adj" fmla="val 12000"/>
            </a:avLst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63640" y="3767328"/>
            <a:ext cx="3017520" cy="9144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63640" y="3968496"/>
            <a:ext cx="2560320" cy="91440"/>
          </a:xfrm>
          <a:prstGeom prst="roundRect">
            <a:avLst>
              <a:gd name="adj" fmla="val 12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4400" y="4462272"/>
            <a:ext cx="4892040" cy="12344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4572000"/>
            <a:ext cx="4114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16A6A1"/>
                </a:solidFill>
                <a:latin typeface="Aptos"/>
              </a:rPr>
              <a:t>CUSTOMER BEHAVIOR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956048"/>
            <a:ext cx="4297680" cy="201168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143000" y="4956048"/>
            <a:ext cx="4160520" cy="201168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035040" y="4462272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4572000"/>
            <a:ext cx="43891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16A6A1"/>
                </a:solidFill>
                <a:latin typeface="Aptos"/>
              </a:rPr>
              <a:t>DELIVERY &amp; STATE PERFORMANCE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956048"/>
            <a:ext cx="4480560" cy="201168"/>
          </a:xfrm>
          <a:prstGeom prst="roundRect">
            <a:avLst>
              <a:gd name="adj" fmla="val 12000"/>
            </a:avLst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63640" y="4956048"/>
            <a:ext cx="4114800" cy="201168"/>
          </a:xfrm>
          <a:prstGeom prst="roundRect">
            <a:avLst>
              <a:gd name="adj" fmla="val 12000"/>
            </a:avLst>
          </a:prstGeom>
          <a:solidFill>
            <a:srgbClr val="2D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" y="6199632"/>
            <a:ext cx="104241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Illustrative layout: reconcile all values with final Power BI visuals.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91440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16A6A1"/>
                </a:solidFill>
                <a:latin typeface="Aptos"/>
              </a:rPr>
              <a:t>CONCLUSION • 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070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Turn analysis into measurable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731520" cy="54864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438912" cy="438912"/>
          </a:xfrm>
          <a:prstGeom prst="ellipse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438912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2286000"/>
            <a:ext cx="44805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Protect the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70048"/>
            <a:ext cx="44805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D3DEEC"/>
                </a:solidFill>
                <a:latin typeface="Aptos"/>
              </a:rPr>
              <a:t>Track category and state performance over time.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28600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395728"/>
            <a:ext cx="438912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2286000"/>
            <a:ext cx="44805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Improve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1" y="2670048"/>
            <a:ext cx="44805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D3DEEC"/>
                </a:solidFill>
                <a:latin typeface="Aptos"/>
              </a:rPr>
              <a:t>Test campaigns and monitor repeat purchase rate.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57600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67328"/>
            <a:ext cx="438912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657600"/>
            <a:ext cx="44805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Improve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4041648"/>
            <a:ext cx="44805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D3DEEC"/>
                </a:solidFill>
                <a:latin typeface="Aptos"/>
              </a:rPr>
              <a:t>Investigate late orders by seller and region.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3657600"/>
            <a:ext cx="438912" cy="438912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3767328"/>
            <a:ext cx="438912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1" y="3657600"/>
            <a:ext cx="44805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Strengthen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1" y="4041648"/>
            <a:ext cx="44805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D3DEEC"/>
                </a:solidFill>
                <a:latin typeface="Aptos"/>
              </a:rPr>
              <a:t>Add cost data before making profit claims.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5156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Thank you • Questions?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5156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B7C6D9"/>
                </a:solidFill>
                <a:latin typeface="Aptos"/>
              </a:rPr>
              <a:t>Figures are working estimates; reconcile with the final model before presenting.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786</Words>
  <Application>Microsoft Office PowerPoint</Application>
  <PresentationFormat>Widescreen</PresentationFormat>
  <Paragraphs>167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Mahi Choudhary</cp:lastModifiedBy>
  <cp:revision>2</cp:revision>
  <dcterms:created xsi:type="dcterms:W3CDTF">2013-01-27T09:14:16Z</dcterms:created>
  <dcterms:modified xsi:type="dcterms:W3CDTF">2026-10-29T05:10:57Z</dcterms:modified>
  <cp:category/>
</cp:coreProperties>
</file>